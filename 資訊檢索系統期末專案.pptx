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60" r:id="rId3"/>
    <p:sldId id="257" r:id="rId4"/>
    <p:sldId id="263" r:id="rId5"/>
    <p:sldId id="269" r:id="rId6"/>
    <p:sldId id="287" r:id="rId7"/>
    <p:sldId id="309" r:id="rId8"/>
    <p:sldId id="291" r:id="rId9"/>
    <p:sldId id="310" r:id="rId10"/>
    <p:sldId id="292" r:id="rId11"/>
    <p:sldId id="290" r:id="rId12"/>
    <p:sldId id="264" r:id="rId13"/>
    <p:sldId id="312" r:id="rId14"/>
    <p:sldId id="311" r:id="rId15"/>
    <p:sldId id="297" r:id="rId16"/>
    <p:sldId id="314" r:id="rId17"/>
    <p:sldId id="315" r:id="rId18"/>
    <p:sldId id="316" r:id="rId19"/>
    <p:sldId id="317" r:id="rId20"/>
    <p:sldId id="294" r:id="rId21"/>
    <p:sldId id="306" r:id="rId22"/>
    <p:sldId id="307" r:id="rId23"/>
    <p:sldId id="295" r:id="rId24"/>
    <p:sldId id="308" r:id="rId25"/>
    <p:sldId id="303" r:id="rId26"/>
    <p:sldId id="318" r:id="rId27"/>
    <p:sldId id="319" r:id="rId28"/>
    <p:sldId id="320" r:id="rId29"/>
    <p:sldId id="321" r:id="rId30"/>
    <p:sldId id="268" r:id="rId31"/>
    <p:sldId id="279" r:id="rId32"/>
    <p:sldId id="270" r:id="rId33"/>
    <p:sldId id="283" r:id="rId34"/>
    <p:sldId id="289" r:id="rId35"/>
    <p:sldId id="284" r:id="rId36"/>
    <p:sldId id="285" r:id="rId37"/>
    <p:sldId id="286" r:id="rId38"/>
    <p:sldId id="271" r:id="rId39"/>
    <p:sldId id="293" r:id="rId40"/>
    <p:sldId id="313" r:id="rId41"/>
    <p:sldId id="298" r:id="rId42"/>
    <p:sldId id="299" r:id="rId43"/>
    <p:sldId id="301" r:id="rId44"/>
    <p:sldId id="300" r:id="rId45"/>
    <p:sldId id="296" r:id="rId46"/>
    <p:sldId id="281" r:id="rId47"/>
    <p:sldId id="282" r:id="rId48"/>
    <p:sldId id="288" r:id="rId49"/>
    <p:sldId id="258" r:id="rId50"/>
    <p:sldId id="305" r:id="rId51"/>
    <p:sldId id="278" r:id="rId52"/>
    <p:sldId id="280" r:id="rId5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91" d="100"/>
          <a:sy n="91" d="100"/>
        </p:scale>
        <p:origin x="37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6/10/2026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47F38-B617-4D2F-AE0A-013F0C4D2C57}" type="datetimeFigureOut">
              <a:rPr lang="en-US" dirty="0"/>
              <a:t>6/10/2026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799C9-84D9-46D2-A11E-BCF8A720529D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FA754-D5C3-4E66-96A6-867B257F58DC}" type="datetimeFigureOut">
              <a:rPr lang="en-US" dirty="0"/>
              <a:t>6/10/2026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4065D-F351-4B03-BD91-D8A6B8D4B36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6/10/2026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8" r:id="rId2"/>
    <p:sldLayoutId id="2147483651" r:id="rId3"/>
    <p:sldLayoutId id="2147483669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7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58" r:id="rId16"/>
    <p:sldLayoutId id="2147483659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tfc-taiwan.org.tw/fact-check-reports-all/" TargetMode="External"/><Relationship Id="rId2" Type="http://schemas.openxmlformats.org/officeDocument/2006/relationships/hyperlink" Target="https://github.com/linsitin/IRE_project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uggingface.co/shibing624/text2vec-base-chinese" TargetMode="Externa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B73F7B-5B7C-4096-944E-59E5F89A35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62564" y="1913467"/>
            <a:ext cx="7066871" cy="1515533"/>
          </a:xfrm>
        </p:spPr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事實查核趨勢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39BA5DE-11A6-4F39-AAB9-85BC64D7098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第二組</a:t>
            </a:r>
            <a:b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01157103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林思霆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01157166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劉軒宏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01157133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陳竑達</a:t>
            </a:r>
          </a:p>
        </p:txBody>
      </p:sp>
    </p:spTree>
    <p:extLst>
      <p:ext uri="{BB962C8B-B14F-4D97-AF65-F5344CB8AC3E}">
        <p14:creationId xmlns:p14="http://schemas.microsoft.com/office/powerpoint/2010/main" val="8097754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F1D5CE53-83F5-4BBA-BB3E-ABF11BF3B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對事實查核中心網站進行爬蟲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9F5CBA14-3D57-4898-86A7-E9F06D90C2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1455791"/>
          </a:xfrm>
        </p:spPr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4126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篇文章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使用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2019~2025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總共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3903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篇文章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458803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CDAA65-F40F-474D-A614-F7E83FFCD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爬網站（使用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BeautifulSoup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）</a:t>
            </a:r>
          </a:p>
        </p:txBody>
      </p:sp>
      <p:pic>
        <p:nvPicPr>
          <p:cNvPr id="32" name="內容版面配置區 31">
            <a:extLst>
              <a:ext uri="{FF2B5EF4-FFF2-40B4-BE49-F238E27FC236}">
                <a16:creationId xmlns:a16="http://schemas.microsoft.com/office/drawing/2014/main" id="{D8C4F5A9-0AC6-4C73-8E8B-A0DACA9492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95402" y="2416627"/>
            <a:ext cx="7448901" cy="3827419"/>
          </a:xfrm>
        </p:spPr>
      </p:pic>
      <p:pic>
        <p:nvPicPr>
          <p:cNvPr id="34" name="圖片 33">
            <a:extLst>
              <a:ext uri="{FF2B5EF4-FFF2-40B4-BE49-F238E27FC236}">
                <a16:creationId xmlns:a16="http://schemas.microsoft.com/office/drawing/2014/main" id="{44692092-3620-4EAA-9319-AD37E5E10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4405" y="2416627"/>
            <a:ext cx="6411415" cy="3313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27628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F1D5CE53-83F5-4BBA-BB3E-ABF11BF3B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功能說明</a:t>
            </a:r>
            <a:b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</a:b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9F5CBA14-3D57-4898-86A7-E9F06D90C2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1690683"/>
          </a:xfrm>
        </p:spPr>
        <p:txBody>
          <a:bodyPr>
            <a:normAutofit/>
          </a:bodyPr>
          <a:lstStyle/>
          <a:p>
            <a:pPr algn="just"/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						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功能一：趨勢分析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just"/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						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功能二：推薦相關文章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just"/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						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功能三：分群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936412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功能一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趨勢分析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40B7DEE-05AE-4C0B-879F-0C5512A4BD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找出</a:t>
                </a:r>
                <a:r>
                  <a:rPr lang="en-US" altLang="zh-TW" dirty="0" err="1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tf-idf</a:t>
                </a:r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前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10</a:t>
                </a:r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名的詞彙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(</a:t>
                </a:r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每篇文章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)</a:t>
                </a:r>
              </a:p>
              <a:p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將詞彙成為核心詞彙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(</a:t>
                </a:r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前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10</a:t>
                </a:r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名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)</a:t>
                </a:r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的篇數進行排名</a:t>
                </a:r>
                <a:endParaRPr lang="en-US" altLang="zh-TW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  <a:p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畫出折線圖</a:t>
                </a:r>
                <a:endParaRPr lang="en-US" altLang="zh-TW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  <a:p>
                <a:pPr lvl="1"/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Ｘ軸為時間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(</a:t>
                </a:r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半年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)</a:t>
                </a:r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，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Y</a:t>
                </a:r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軸為成為核心詞彙的佔比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(%)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zh-TW" altLang="en-US" i="1" dirty="0">
                        <a:latin typeface="Cambria Math" panose="02040503050406030204" pitchFamily="18" charset="0"/>
                        <a:ea typeface="標楷體" panose="03000509000000000000" pitchFamily="65" charset="-120"/>
                      </a:rPr>
                      <m:t>成為核心詞彙的佔比</m:t>
                    </m:r>
                    <m:r>
                      <a:rPr lang="en-US" altLang="zh-TW" i="1" dirty="0">
                        <a:latin typeface="Cambria Math" panose="02040503050406030204" pitchFamily="18" charset="0"/>
                        <a:ea typeface="標楷體" panose="03000509000000000000" pitchFamily="65" charset="-120"/>
                      </a:rPr>
                      <m:t>=</m:t>
                    </m:r>
                    <m:f>
                      <m:fPr>
                        <m:ctrlPr>
                          <a:rPr lang="en-US" altLang="zh-TW" i="1" smtClean="0">
                            <a:latin typeface="Cambria Math" panose="02040503050406030204" pitchFamily="18" charset="0"/>
                            <a:ea typeface="標楷體" panose="03000509000000000000" pitchFamily="65" charset="-120"/>
                          </a:rPr>
                        </m:ctrlPr>
                      </m:fPr>
                      <m:num>
                        <m:r>
                          <a:rPr lang="zh-TW" altLang="en-US" i="1">
                            <a:latin typeface="Cambria Math" panose="02040503050406030204" pitchFamily="18" charset="0"/>
                            <a:ea typeface="標楷體" panose="03000509000000000000" pitchFamily="65" charset="-120"/>
                          </a:rPr>
                          <m:t>成為核心</m:t>
                        </m:r>
                        <m:r>
                          <a:rPr lang="zh-TW" altLang="en-US" i="1" smtClean="0">
                            <a:latin typeface="Cambria Math" panose="02040503050406030204" pitchFamily="18" charset="0"/>
                            <a:ea typeface="標楷體" panose="03000509000000000000" pitchFamily="65" charset="-120"/>
                          </a:rPr>
                          <m:t>詞彙</m:t>
                        </m:r>
                        <m:r>
                          <a:rPr lang="zh-TW" altLang="en-US" i="1">
                            <a:latin typeface="Cambria Math" panose="02040503050406030204" pitchFamily="18" charset="0"/>
                            <a:ea typeface="標楷體" panose="03000509000000000000" pitchFamily="65" charset="-120"/>
                          </a:rPr>
                          <m:t>的</m:t>
                        </m:r>
                        <m:r>
                          <a:rPr lang="zh-TW" altLang="en-US" i="1" smtClean="0">
                            <a:latin typeface="Cambria Math" panose="02040503050406030204" pitchFamily="18" charset="0"/>
                            <a:ea typeface="標楷體" panose="03000509000000000000" pitchFamily="65" charset="-120"/>
                          </a:rPr>
                          <m:t>篇數</m:t>
                        </m:r>
                      </m:num>
                      <m:den>
                        <m:r>
                          <a:rPr lang="zh-TW" altLang="en-US" i="1" smtClean="0">
                            <a:latin typeface="Cambria Math" panose="02040503050406030204" pitchFamily="18" charset="0"/>
                            <a:ea typeface="標楷體" panose="03000509000000000000" pitchFamily="65" charset="-120"/>
                          </a:rPr>
                          <m:t>當期的總篇數</m:t>
                        </m:r>
                      </m:den>
                    </m:f>
                  </m:oMath>
                </a14:m>
                <a:endParaRPr lang="en-US" altLang="zh-TW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40B7DEE-05AE-4C0B-879F-0C5512A4BD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44" t="-256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圖片 6">
            <a:extLst>
              <a:ext uri="{FF2B5EF4-FFF2-40B4-BE49-F238E27FC236}">
                <a16:creationId xmlns:a16="http://schemas.microsoft.com/office/drawing/2014/main" id="{4DBE36EB-2804-4D38-8A85-A81E015DC3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8176" y="2431535"/>
            <a:ext cx="1538613" cy="3788282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17709886-1310-4F75-BA80-F64C610255A1}"/>
              </a:ext>
            </a:extLst>
          </p:cNvPr>
          <p:cNvSpPr txBox="1"/>
          <p:nvPr/>
        </p:nvSpPr>
        <p:spPr>
          <a:xfrm>
            <a:off x="10293291" y="2734811"/>
            <a:ext cx="136740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2019~2025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的總年度前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10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核心詞彙</a:t>
            </a:r>
          </a:p>
        </p:txBody>
      </p:sp>
      <p:sp>
        <p:nvSpPr>
          <p:cNvPr id="10" name="箭號: 向左 9">
            <a:extLst>
              <a:ext uri="{FF2B5EF4-FFF2-40B4-BE49-F238E27FC236}">
                <a16:creationId xmlns:a16="http://schemas.microsoft.com/office/drawing/2014/main" id="{70375702-19FF-479F-84D3-5872FA9B9301}"/>
              </a:ext>
            </a:extLst>
          </p:cNvPr>
          <p:cNvSpPr/>
          <p:nvPr/>
        </p:nvSpPr>
        <p:spPr>
          <a:xfrm>
            <a:off x="10087411" y="3255279"/>
            <a:ext cx="226502" cy="159391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63256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圖片 16">
            <a:extLst>
              <a:ext uri="{FF2B5EF4-FFF2-40B4-BE49-F238E27FC236}">
                <a16:creationId xmlns:a16="http://schemas.microsoft.com/office/drawing/2014/main" id="{AFDBDB3C-1067-4F36-A2A2-06B99E3D73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074" y="589542"/>
            <a:ext cx="10095851" cy="5678916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7758268" y="801498"/>
            <a:ext cx="3385657" cy="1136359"/>
          </a:xfrm>
        </p:spPr>
        <p:txBody>
          <a:bodyPr>
            <a:normAutofit/>
          </a:bodyPr>
          <a:lstStyle/>
          <a:p>
            <a:pPr algn="l"/>
            <a:r>
              <a:rPr lang="zh-TW" altLang="en-US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停用詞</a:t>
            </a:r>
            <a:r>
              <a:rPr lang="en-US" altLang="zh-TW" dirty="0">
                <a:solidFill>
                  <a:schemeClr val="bg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(N/2)</a:t>
            </a:r>
            <a:endParaRPr lang="zh-TW" altLang="en-US" dirty="0">
              <a:solidFill>
                <a:schemeClr val="bg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85229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3877710E-8878-4362-A2F3-0F8A887BB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功能一成果展示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376A29C-A774-41AD-9299-A4B55EED41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582194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D51CEC0C-F02A-4718-9D79-42771F8B56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4997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功能一評估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使用半年區間可以清楚看出核心詞彙從哪個時間段開始出現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時間細分到季反而無法明顯展示其出現時間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/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例如：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【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疫苗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】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從半年的折線圖，可以發現在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2019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上半年開始出現，從季的折線圖裡，只能確定在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2020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第一季有出現，但無法得知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2019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是否有出現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64170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89C79972-1F8A-4562-97EC-E9C97F2B7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60693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圖片 12">
            <a:extLst>
              <a:ext uri="{FF2B5EF4-FFF2-40B4-BE49-F238E27FC236}">
                <a16:creationId xmlns:a16="http://schemas.microsoft.com/office/drawing/2014/main" id="{C55E60CD-B865-48DA-BE74-6ECA4AE727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5272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功能二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推薦相關文章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利用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TF-IDF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cos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相似度推薦給使用者最多五個相關的文章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所推薦的文章相似度至少要是第一名的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70%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，其最低的相似度必須高於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0.22</a:t>
            </a:r>
          </a:p>
          <a:p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32687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3877710E-8878-4362-A2F3-0F8A887BB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功能二成果展示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376A29C-A774-41AD-9299-A4B55EED41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652186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功能二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推薦相關文章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利用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tf-idf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cos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相似度推薦給使用者最多五個相關的文章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3237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55A7F74F-EF13-4F58-A9CC-90CDCFAB50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050" y="599680"/>
            <a:ext cx="10059804" cy="565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8320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功能二評估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以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TF-IDF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為標準，其他方法也取同樣數量的推薦文章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進行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30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篇結果平均下來比較，觀察其他方法是否也能得到其推薦的相關文章：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/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SBERT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的結果最好，能得到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3~4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篇相同的推薦文章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/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FastText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內文的結果較差一點，能得到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2~3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篇相同的推薦文章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/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FastText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標題的結果最差，只能得到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篇甚至毫無相同的推薦文章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95160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D8CFAB7F-E68C-4919-874E-4B523F2A5A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98" y="599680"/>
            <a:ext cx="10059804" cy="565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55263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8F4CE761-FEBF-4AB0-BE1F-95A8CF2488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98" y="599680"/>
            <a:ext cx="10059804" cy="565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24554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4E7B3B17-7E24-4F76-8D52-2E5C520D53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98" y="599680"/>
            <a:ext cx="10059804" cy="565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0495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FastText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vs TF-IDF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根據觀察結果，進行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30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篇查核報告搜尋推薦文章比較，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TF-IDF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的推薦文章主題比較相關，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FastText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則容易產生不相關的文章。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推論原因：從第三名以後的推薦文章來看，只有結構相似，其主題面向差距過大。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2773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FastText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標題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vs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內文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根據觀察結果，進行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30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篇查核報告搜尋推薦文章比較，標題展示了文章最核心的部分，但缺少了內文的相關度。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推論原因：過度依賴標題，如果標題內容簡短則無法確認是否文章內容相關</a:t>
            </a:r>
          </a:p>
        </p:txBody>
      </p:sp>
    </p:spTree>
    <p:extLst>
      <p:ext uri="{BB962C8B-B14F-4D97-AF65-F5344CB8AC3E}">
        <p14:creationId xmlns:p14="http://schemas.microsoft.com/office/powerpoint/2010/main" val="33553317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/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SBERT(shibing624/text2vec-base-chinese)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根據觀察結果，進行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30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篇查核報告搜尋推薦文章比較，深層語意模型能找出上下文接近的文章，相比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FastText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更能體現出使用語意向量帶來的效果。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比較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TF-IDF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：能提供非關鍵字比重高的相關文章，但並非我們人工所期望的推薦文章結果</a:t>
            </a:r>
          </a:p>
        </p:txBody>
      </p:sp>
    </p:spTree>
    <p:extLst>
      <p:ext uri="{BB962C8B-B14F-4D97-AF65-F5344CB8AC3E}">
        <p14:creationId xmlns:p14="http://schemas.microsoft.com/office/powerpoint/2010/main" val="18179765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3852A4F-37A4-4104-8CEB-F58C23E07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功能三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分群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C51B410-6441-4389-B809-21CDB44DF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先使用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SBERT(shibing624/text2vec-base-chinese)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產生語意向量，再用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UMAP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從高維降到低維，降維後使用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HDBSCAN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進行密度分群。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LLM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進行命名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:gemini-3.1-flash-lite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6705B60-B361-49BB-A678-56C49C70509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47718" b="83608"/>
          <a:stretch/>
        </p:blipFill>
        <p:spPr>
          <a:xfrm>
            <a:off x="1295401" y="3922853"/>
            <a:ext cx="6374236" cy="1124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88785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14581250-C1B1-4277-AD83-097EA051C1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98" y="599680"/>
            <a:ext cx="10059804" cy="565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6090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58205585-C796-45EE-BAAB-7DDD2B668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98" y="599680"/>
            <a:ext cx="10059804" cy="565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8883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功能三評估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人工查核，比較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HDBSCAN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跟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K-means(TF-IDF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SBERT)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結果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每群進行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10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篇隨機抽查人工審查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/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HDBSCAN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的結果最好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/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K-means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兩者結果很差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39092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042F56CB-A0A3-429A-8E2C-444526F8AE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98" y="599680"/>
            <a:ext cx="10059804" cy="5658640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9320CE8B-8B1A-4D07-93C5-69F2008A142C}"/>
              </a:ext>
            </a:extLst>
          </p:cNvPr>
          <p:cNvSpPr txBox="1"/>
          <p:nvPr/>
        </p:nvSpPr>
        <p:spPr>
          <a:xfrm>
            <a:off x="8438278" y="931177"/>
            <a:ext cx="24674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HDBSCAN</a:t>
            </a:r>
            <a:endParaRPr lang="zh-TW" altLang="en-US" sz="2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3482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5161681C-C820-4D10-87AA-1D3540FE56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98" y="599680"/>
            <a:ext cx="10059804" cy="5658640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9320CE8B-8B1A-4D07-93C5-69F2008A142C}"/>
              </a:ext>
            </a:extLst>
          </p:cNvPr>
          <p:cNvSpPr txBox="1"/>
          <p:nvPr/>
        </p:nvSpPr>
        <p:spPr>
          <a:xfrm>
            <a:off x="9210065" y="998289"/>
            <a:ext cx="1586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K-means</a:t>
            </a:r>
          </a:p>
        </p:txBody>
      </p:sp>
    </p:spTree>
    <p:extLst>
      <p:ext uri="{BB962C8B-B14F-4D97-AF65-F5344CB8AC3E}">
        <p14:creationId xmlns:p14="http://schemas.microsoft.com/office/powerpoint/2010/main" val="40367889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63673380-5363-44A0-ADB9-7743D0ACDE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98" y="599680"/>
            <a:ext cx="10059804" cy="5658640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9320CE8B-8B1A-4D07-93C5-69F2008A142C}"/>
              </a:ext>
            </a:extLst>
          </p:cNvPr>
          <p:cNvSpPr txBox="1"/>
          <p:nvPr/>
        </p:nvSpPr>
        <p:spPr>
          <a:xfrm>
            <a:off x="9238640" y="960189"/>
            <a:ext cx="1586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K-means</a:t>
            </a:r>
          </a:p>
        </p:txBody>
      </p:sp>
    </p:spTree>
    <p:extLst>
      <p:ext uri="{BB962C8B-B14F-4D97-AF65-F5344CB8AC3E}">
        <p14:creationId xmlns:p14="http://schemas.microsoft.com/office/powerpoint/2010/main" val="3469659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F1D5CE53-83F5-4BBA-BB3E-ABF11BF3B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功能實作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9F5CBA14-3D57-4898-86A7-E9F06D90C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22009380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TF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DF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IDF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TF-IDF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13" name="內容版面配置區 12">
            <a:extLst>
              <a:ext uri="{FF2B5EF4-FFF2-40B4-BE49-F238E27FC236}">
                <a16:creationId xmlns:a16="http://schemas.microsoft.com/office/drawing/2014/main" id="{1F400E88-CED2-4A9C-9705-B64361E2C3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95402" y="2448406"/>
            <a:ext cx="5237391" cy="3317875"/>
          </a:xfr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1C26B76B-A030-486C-B5F6-F8A82699F3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5912" y="2779332"/>
            <a:ext cx="5903047" cy="2980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2637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32BAB465-37D7-4BCA-843B-461EF20034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2" y="606415"/>
            <a:ext cx="10035855" cy="5645169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026780" y="2777330"/>
            <a:ext cx="3087147" cy="1303337"/>
          </a:xfrm>
        </p:spPr>
        <p:txBody>
          <a:bodyPr/>
          <a:lstStyle/>
          <a:p>
            <a:pPr algn="l"/>
            <a:r>
              <a:rPr lang="zh-TW" altLang="en-US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功能一實作</a:t>
            </a:r>
          </a:p>
        </p:txBody>
      </p:sp>
    </p:spTree>
    <p:extLst>
      <p:ext uri="{BB962C8B-B14F-4D97-AF65-F5344CB8AC3E}">
        <p14:creationId xmlns:p14="http://schemas.microsoft.com/office/powerpoint/2010/main" val="21103838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C770308A-BE45-4689-BE19-6B7E09114B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074" y="589542"/>
            <a:ext cx="10095851" cy="5678916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056778" y="2777331"/>
            <a:ext cx="3087147" cy="1303337"/>
          </a:xfrm>
        </p:spPr>
        <p:txBody>
          <a:bodyPr/>
          <a:lstStyle/>
          <a:p>
            <a:pPr algn="l"/>
            <a:r>
              <a:rPr lang="zh-TW" altLang="en-US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功能一實作</a:t>
            </a:r>
          </a:p>
        </p:txBody>
      </p:sp>
    </p:spTree>
    <p:extLst>
      <p:ext uri="{BB962C8B-B14F-4D97-AF65-F5344CB8AC3E}">
        <p14:creationId xmlns:p14="http://schemas.microsoft.com/office/powerpoint/2010/main" val="36579814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F1E6F8E2-F320-4C5A-919B-35368DC6B4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074" y="589542"/>
            <a:ext cx="10095851" cy="5678916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056778" y="2777331"/>
            <a:ext cx="3087147" cy="1303337"/>
          </a:xfrm>
        </p:spPr>
        <p:txBody>
          <a:bodyPr/>
          <a:lstStyle/>
          <a:p>
            <a:pPr algn="l"/>
            <a:r>
              <a:rPr lang="zh-TW" altLang="en-US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功能一實作</a:t>
            </a:r>
          </a:p>
        </p:txBody>
      </p:sp>
    </p:spTree>
    <p:extLst>
      <p:ext uri="{BB962C8B-B14F-4D97-AF65-F5344CB8AC3E}">
        <p14:creationId xmlns:p14="http://schemas.microsoft.com/office/powerpoint/2010/main" val="36792055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BF34169A-9F1D-41A3-9EC3-A1F94668C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074" y="589542"/>
            <a:ext cx="10095851" cy="5678916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056778" y="2777331"/>
            <a:ext cx="3087147" cy="1303337"/>
          </a:xfrm>
        </p:spPr>
        <p:txBody>
          <a:bodyPr/>
          <a:lstStyle/>
          <a:p>
            <a:pPr algn="l"/>
            <a:r>
              <a:rPr lang="zh-TW" altLang="en-US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功能一實作</a:t>
            </a:r>
          </a:p>
        </p:txBody>
      </p:sp>
    </p:spTree>
    <p:extLst>
      <p:ext uri="{BB962C8B-B14F-4D97-AF65-F5344CB8AC3E}">
        <p14:creationId xmlns:p14="http://schemas.microsoft.com/office/powerpoint/2010/main" val="54657642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2C91FC0A-1844-45AB-AF68-5EBF5F40E4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074" y="589542"/>
            <a:ext cx="10095851" cy="5678916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056778" y="2777331"/>
            <a:ext cx="3087147" cy="1303337"/>
          </a:xfrm>
        </p:spPr>
        <p:txBody>
          <a:bodyPr/>
          <a:lstStyle/>
          <a:p>
            <a:pPr algn="l"/>
            <a:r>
              <a:rPr lang="zh-TW" altLang="en-US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功能一實作</a:t>
            </a:r>
          </a:p>
        </p:txBody>
      </p:sp>
    </p:spTree>
    <p:extLst>
      <p:ext uri="{BB962C8B-B14F-4D97-AF65-F5344CB8AC3E}">
        <p14:creationId xmlns:p14="http://schemas.microsoft.com/office/powerpoint/2010/main" val="30653451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2CDCC122-D246-4CB6-A048-128F7C29C0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074" y="589542"/>
            <a:ext cx="10095851" cy="5678916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056778" y="2777331"/>
            <a:ext cx="3087147" cy="1303337"/>
          </a:xfrm>
        </p:spPr>
        <p:txBody>
          <a:bodyPr/>
          <a:lstStyle/>
          <a:p>
            <a:pPr algn="l"/>
            <a:r>
              <a:rPr lang="zh-TW" altLang="en-US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功能一實作</a:t>
            </a:r>
          </a:p>
        </p:txBody>
      </p:sp>
    </p:spTree>
    <p:extLst>
      <p:ext uri="{BB962C8B-B14F-4D97-AF65-F5344CB8AC3E}">
        <p14:creationId xmlns:p14="http://schemas.microsoft.com/office/powerpoint/2010/main" val="233853573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功能二流程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利用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cos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相似度推薦給使用者前三名相關的文章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/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TF-IDF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Embedding(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FastText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538505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945CAA75-D511-46C8-8368-D73E6695DC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059" y="600581"/>
            <a:ext cx="11001882" cy="5656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8372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D718F555-C662-4785-BB2C-5D98062218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347" y="622882"/>
            <a:ext cx="9977306" cy="5612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69445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B52B04EE-64FB-431A-8DB0-3F529490FF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98" y="599680"/>
            <a:ext cx="10059804" cy="565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32898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659F54D5-A495-4DB1-8350-DBFA15F706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98" y="599680"/>
            <a:ext cx="10059804" cy="565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99125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0D096E68-E860-459F-9D6E-4AC191DBA7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98" y="599680"/>
            <a:ext cx="10059804" cy="565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602486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C3B172F5-0898-40A5-B7BC-BD08F73642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98" y="599680"/>
            <a:ext cx="10059804" cy="565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02128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E8EFE3C5-DB9E-4E4D-B219-759477C9D9B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141" r="37510"/>
          <a:stretch/>
        </p:blipFill>
        <p:spPr>
          <a:xfrm>
            <a:off x="744461" y="1450571"/>
            <a:ext cx="10700064" cy="395685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199D6A56-1B58-4CE1-8D4B-BFB67957E87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2419" t="15029" b="73643"/>
          <a:stretch/>
        </p:blipFill>
        <p:spPr>
          <a:xfrm>
            <a:off x="6968238" y="2413931"/>
            <a:ext cx="4476287" cy="312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63740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圖片 14">
            <a:extLst>
              <a:ext uri="{FF2B5EF4-FFF2-40B4-BE49-F238E27FC236}">
                <a16:creationId xmlns:a16="http://schemas.microsoft.com/office/drawing/2014/main" id="{BEA20E96-0592-473D-8474-49AB112CD6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361" y="624015"/>
            <a:ext cx="9973278" cy="5609970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7565465" y="833508"/>
            <a:ext cx="3517174" cy="1303337"/>
          </a:xfrm>
        </p:spPr>
        <p:txBody>
          <a:bodyPr>
            <a:normAutofit/>
          </a:bodyPr>
          <a:lstStyle/>
          <a:p>
            <a:r>
              <a:rPr lang="zh-TW" altLang="en-US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功能二實作</a:t>
            </a:r>
          </a:p>
        </p:txBody>
      </p:sp>
    </p:spTree>
    <p:extLst>
      <p:ext uri="{BB962C8B-B14F-4D97-AF65-F5344CB8AC3E}">
        <p14:creationId xmlns:p14="http://schemas.microsoft.com/office/powerpoint/2010/main" val="110963456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圖片 16">
            <a:extLst>
              <a:ext uri="{FF2B5EF4-FFF2-40B4-BE49-F238E27FC236}">
                <a16:creationId xmlns:a16="http://schemas.microsoft.com/office/drawing/2014/main" id="{EE8EB888-6E57-4BC0-8A3C-3FE621B320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734" y="609600"/>
            <a:ext cx="10024532" cy="5638799"/>
          </a:xfrm>
          <a:prstGeom prst="rect">
            <a:avLst/>
          </a:prstGeom>
        </p:spPr>
      </p:pic>
      <p:sp>
        <p:nvSpPr>
          <p:cNvPr id="3" name="標題 1">
            <a:extLst>
              <a:ext uri="{FF2B5EF4-FFF2-40B4-BE49-F238E27FC236}">
                <a16:creationId xmlns:a16="http://schemas.microsoft.com/office/drawing/2014/main" id="{66BC41E8-1F67-4DE5-B18F-58B876F05D86}"/>
              </a:ext>
            </a:extLst>
          </p:cNvPr>
          <p:cNvSpPr txBox="1">
            <a:spLocks/>
          </p:cNvSpPr>
          <p:nvPr/>
        </p:nvSpPr>
        <p:spPr>
          <a:xfrm>
            <a:off x="7591092" y="4945062"/>
            <a:ext cx="3517174" cy="130333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 cap="none">
                <a:ln w="3175" cmpd="sng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zh-TW" altLang="en-US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功能二實作</a:t>
            </a:r>
          </a:p>
        </p:txBody>
      </p:sp>
    </p:spTree>
    <p:extLst>
      <p:ext uri="{BB962C8B-B14F-4D97-AF65-F5344CB8AC3E}">
        <p14:creationId xmlns:p14="http://schemas.microsoft.com/office/powerpoint/2010/main" val="350738414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929A3D59-4370-4DEC-B11D-92BABA4E2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074" y="589542"/>
            <a:ext cx="10095851" cy="5678916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7758268" y="801498"/>
            <a:ext cx="3385657" cy="1136359"/>
          </a:xfrm>
        </p:spPr>
        <p:txBody>
          <a:bodyPr>
            <a:normAutofit/>
          </a:bodyPr>
          <a:lstStyle/>
          <a:p>
            <a:pPr algn="l"/>
            <a:r>
              <a:rPr lang="zh-TW" altLang="en-US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停用詞</a:t>
            </a:r>
            <a:r>
              <a:rPr lang="en-US" altLang="zh-TW" dirty="0">
                <a:solidFill>
                  <a:schemeClr val="bg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(N/3)</a:t>
            </a:r>
            <a:endParaRPr lang="zh-TW" altLang="en-US" dirty="0">
              <a:solidFill>
                <a:schemeClr val="bg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221943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584AA1-206F-4D0E-B712-E4BF12872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相關連結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A876783-6B37-4DAD-A196-F3B9DAA3E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hlinkClick r:id="rId2"/>
              </a:rPr>
              <a:t>資訊檢索系統期末專案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台灣事實查核中心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4"/>
              </a:rPr>
              <a:t>SBERT(shibing624/text2vec-base-chinese)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893138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584AA1-206F-4D0E-B712-E4BF12872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小組成員貢獻</a:t>
            </a:r>
          </a:p>
        </p:txBody>
      </p:sp>
      <p:graphicFrame>
        <p:nvGraphicFramePr>
          <p:cNvPr id="10" name="表格 10">
            <a:extLst>
              <a:ext uri="{FF2B5EF4-FFF2-40B4-BE49-F238E27FC236}">
                <a16:creationId xmlns:a16="http://schemas.microsoft.com/office/drawing/2014/main" id="{64F0ADFA-99E8-43E8-B8D4-9BDAACA0190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5080620"/>
              </p:ext>
            </p:extLst>
          </p:nvPr>
        </p:nvGraphicFramePr>
        <p:xfrm>
          <a:off x="3105324" y="2759427"/>
          <a:ext cx="5981352" cy="246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0676">
                  <a:extLst>
                    <a:ext uri="{9D8B030D-6E8A-4147-A177-3AD203B41FA5}">
                      <a16:colId xmlns:a16="http://schemas.microsoft.com/office/drawing/2014/main" val="3072652226"/>
                    </a:ext>
                  </a:extLst>
                </a:gridCol>
                <a:gridCol w="2990676">
                  <a:extLst>
                    <a:ext uri="{9D8B030D-6E8A-4147-A177-3AD203B41FA5}">
                      <a16:colId xmlns:a16="http://schemas.microsoft.com/office/drawing/2014/main" val="211095280"/>
                    </a:ext>
                  </a:extLst>
                </a:gridCol>
              </a:tblGrid>
              <a:tr h="61588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小組成員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貢獻度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6892299"/>
                  </a:ext>
                </a:extLst>
              </a:tr>
              <a:tr h="61588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陳竑達</a:t>
                      </a:r>
                      <a:endParaRPr lang="en-US" altLang="zh-TW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33%</a:t>
                      </a:r>
                      <a:endParaRPr lang="zh-TW" altLang="en-US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3185247"/>
                  </a:ext>
                </a:extLst>
              </a:tr>
              <a:tr h="61588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林思霆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34%</a:t>
                      </a:r>
                      <a:endParaRPr lang="zh-TW" altLang="en-US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4184894"/>
                  </a:ext>
                </a:extLst>
              </a:tr>
              <a:tr h="61588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劉軒宏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33%</a:t>
                      </a:r>
                      <a:endParaRPr lang="zh-TW" altLang="en-US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571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556350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詞彙在所有文章的總出現次數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2C47E4CA-9D20-4759-8DC9-398A25C883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45744" y="2423240"/>
            <a:ext cx="4100512" cy="3816579"/>
          </a:xfrm>
        </p:spPr>
      </p:pic>
    </p:spTree>
    <p:extLst>
      <p:ext uri="{BB962C8B-B14F-4D97-AF65-F5344CB8AC3E}">
        <p14:creationId xmlns:p14="http://schemas.microsoft.com/office/powerpoint/2010/main" val="80405444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2025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年的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DF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7" name="內容版面配置區 16">
            <a:extLst>
              <a:ext uri="{FF2B5EF4-FFF2-40B4-BE49-F238E27FC236}">
                <a16:creationId xmlns:a16="http://schemas.microsoft.com/office/drawing/2014/main" id="{47834B59-3F02-418A-83DC-A4716E0925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62074" y="2431628"/>
            <a:ext cx="7467851" cy="3837156"/>
          </a:xfrm>
        </p:spPr>
      </p:pic>
    </p:spTree>
    <p:extLst>
      <p:ext uri="{BB962C8B-B14F-4D97-AF65-F5344CB8AC3E}">
        <p14:creationId xmlns:p14="http://schemas.microsoft.com/office/powerpoint/2010/main" val="268099304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有機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1133</TotalTime>
  <Words>767</Words>
  <Application>Microsoft Office PowerPoint</Application>
  <PresentationFormat>寬螢幕</PresentationFormat>
  <Paragraphs>86</Paragraphs>
  <Slides>52</Slides>
  <Notes>0</Notes>
  <HiddenSlides>26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52</vt:i4>
      </vt:variant>
    </vt:vector>
  </HeadingPairs>
  <TitlesOfParts>
    <vt:vector size="58" baseType="lpstr">
      <vt:lpstr>標楷體</vt:lpstr>
      <vt:lpstr>Arial</vt:lpstr>
      <vt:lpstr>Cambria Math</vt:lpstr>
      <vt:lpstr>Garamond</vt:lpstr>
      <vt:lpstr>Times New Roman</vt:lpstr>
      <vt:lpstr>有機</vt:lpstr>
      <vt:lpstr>事實查核趨勢</vt:lpstr>
      <vt:lpstr>對事實查核中心網站進行爬蟲</vt:lpstr>
      <vt:lpstr>爬網站（使用BeautifulSoup）</vt:lpstr>
      <vt:lpstr>功能說明 </vt:lpstr>
      <vt:lpstr>功能一:趨勢分析</vt:lpstr>
      <vt:lpstr>停用詞(N/2)</vt:lpstr>
      <vt:lpstr>功能一成果展示</vt:lpstr>
      <vt:lpstr>PowerPoint 簡報</vt:lpstr>
      <vt:lpstr>功能一評估</vt:lpstr>
      <vt:lpstr>PowerPoint 簡報</vt:lpstr>
      <vt:lpstr>PowerPoint 簡報</vt:lpstr>
      <vt:lpstr>功能二:推薦相關文章</vt:lpstr>
      <vt:lpstr>功能二成果展示</vt:lpstr>
      <vt:lpstr>功能二:推薦相關文章</vt:lpstr>
      <vt:lpstr>PowerPoint 簡報</vt:lpstr>
      <vt:lpstr>功能二評估</vt:lpstr>
      <vt:lpstr>PowerPoint 簡報</vt:lpstr>
      <vt:lpstr>PowerPoint 簡報</vt:lpstr>
      <vt:lpstr>PowerPoint 簡報</vt:lpstr>
      <vt:lpstr>FastText vs TF-IDF</vt:lpstr>
      <vt:lpstr>FastText (標題 vs 內文)</vt:lpstr>
      <vt:lpstr>SBERT(shibing624/text2vec-base-chinese)</vt:lpstr>
      <vt:lpstr>功能三:分群</vt:lpstr>
      <vt:lpstr>PowerPoint 簡報</vt:lpstr>
      <vt:lpstr>PowerPoint 簡報</vt:lpstr>
      <vt:lpstr>功能三評估</vt:lpstr>
      <vt:lpstr>PowerPoint 簡報</vt:lpstr>
      <vt:lpstr>PowerPoint 簡報</vt:lpstr>
      <vt:lpstr>PowerPoint 簡報</vt:lpstr>
      <vt:lpstr>功能實作</vt:lpstr>
      <vt:lpstr>TF、DF、IDF、TF-IDF</vt:lpstr>
      <vt:lpstr>功能一實作</vt:lpstr>
      <vt:lpstr>功能一實作</vt:lpstr>
      <vt:lpstr>功能一實作</vt:lpstr>
      <vt:lpstr>功能一實作</vt:lpstr>
      <vt:lpstr>功能一實作</vt:lpstr>
      <vt:lpstr>功能一實作</vt:lpstr>
      <vt:lpstr>功能二流程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功能二實作</vt:lpstr>
      <vt:lpstr>PowerPoint 簡報</vt:lpstr>
      <vt:lpstr>停用詞(N/3)</vt:lpstr>
      <vt:lpstr>相關連結</vt:lpstr>
      <vt:lpstr>小組成員貢獻</vt:lpstr>
      <vt:lpstr>詞彙在所有文章的總出現次數</vt:lpstr>
      <vt:lpstr>2025年的DF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資訊檢索系統期末專案</dc:title>
  <dc:creator>思霆 林</dc:creator>
  <cp:lastModifiedBy>思霆 林</cp:lastModifiedBy>
  <cp:revision>103</cp:revision>
  <dcterms:created xsi:type="dcterms:W3CDTF">2026-04-15T14:20:03Z</dcterms:created>
  <dcterms:modified xsi:type="dcterms:W3CDTF">2026-06-10T17:53:22Z</dcterms:modified>
</cp:coreProperties>
</file>